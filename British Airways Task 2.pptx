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2A981-D266-DA11-DBD4-EF021E7278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304569-381E-4702-8182-6CFA54740B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39456-9261-56C3-F958-1253C252F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BE794-3D0D-46E6-9390-BDEABC9AFC0C}" type="datetimeFigureOut">
              <a:rPr lang="en-US" smtClean="0"/>
              <a:t>23-May-26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7EC611-9AA9-515E-EEBC-1985BAB5E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477ADF-6838-46BB-C69D-571942B3A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9CDCE-9D9E-464B-9BBD-57C2644EE3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891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36E88-C81A-1DD1-5DCD-8F09EB9FA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32CC9-6EDC-D119-41A0-E09DE69C0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717C5-4148-CF85-AA64-526116205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BE794-3D0D-46E6-9390-BDEABC9AFC0C}" type="datetimeFigureOut">
              <a:rPr lang="en-US" smtClean="0"/>
              <a:t>23-May-26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103F4-08FC-6C93-3C93-6BB404BB9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3D701D-841F-4A7C-464E-8A81D03D5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9CDCE-9D9E-464B-9BBD-57C2644EE3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060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A45CD-F52B-169C-5002-4C094189F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75FE94-7DE4-7828-517B-30E44B590D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D1684E-617C-F574-4D63-57FE7AD9F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BE794-3D0D-46E6-9390-BDEABC9AFC0C}" type="datetimeFigureOut">
              <a:rPr lang="en-US" smtClean="0"/>
              <a:t>23-May-26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D33B1-FC51-0264-7373-28EA8EA18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3DA03-E451-B20E-BD13-66B68D621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9CDCE-9D9E-464B-9BBD-57C2644EE3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063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E86CB-ED89-E093-A8C3-6C37D5083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52528-B5DA-3434-38BA-9BB0B06F76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DE947B-7E4F-DFD5-8AE0-C9B24A9BF6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17FC4E-912B-80C1-8288-4EA39485F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BE794-3D0D-46E6-9390-BDEABC9AFC0C}" type="datetimeFigureOut">
              <a:rPr lang="en-US" smtClean="0"/>
              <a:t>23-May-26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CD0B9B-B3B2-0667-08EB-2D7CD597F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C0F9D3-8946-8136-17C7-FFE810CA9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9CDCE-9D9E-464B-9BBD-57C2644EE3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84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DEDDB-A2B5-6818-8821-6D14C922B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57BF4E-1BD3-093C-E1D1-FA3268E3A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A08FD8-1EA0-D465-D527-818BB5EF75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C2BFB1-90CB-9039-AEA1-C4DA489F08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9DB1D4-60B8-FD50-4879-67FC02AF60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29BB17-2FBC-0D69-B8B3-6B3957A60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BE794-3D0D-46E6-9390-BDEABC9AFC0C}" type="datetimeFigureOut">
              <a:rPr lang="en-US" smtClean="0"/>
              <a:t>23-May-26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45050B-CE1D-DDD7-C3BF-468485C44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9FE280-8563-C40C-0D38-8616862DA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9CDCE-9D9E-464B-9BBD-57C2644EE3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7962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57E09-0478-ED87-9F04-65C03C796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3C023E-4966-2126-EDCA-1FD9B9575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BE794-3D0D-46E6-9390-BDEABC9AFC0C}" type="datetimeFigureOut">
              <a:rPr lang="en-US" smtClean="0"/>
              <a:t>23-May-26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A31108-6560-E0A3-10D8-E1FF658D2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02E41F-EBA9-3B1D-F078-204399A20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9CDCE-9D9E-464B-9BBD-57C2644EE3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793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EA079C-B850-6657-46D6-56A1772FD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BE794-3D0D-46E6-9390-BDEABC9AFC0C}" type="datetimeFigureOut">
              <a:rPr lang="en-US" smtClean="0"/>
              <a:t>23-May-26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19AC79-8E65-3528-6F88-64484D2A8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8F8897-4918-3671-3083-96176F290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9CDCE-9D9E-464B-9BBD-57C2644EE3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449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E97C0-AA44-5B45-CB83-AC498808E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B18CA-E3A5-B98D-A7C1-B178F4EDFC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9D5E45-A9A2-67E2-7D41-6F9B8ADF73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108B29-8DBA-4BB3-50D9-A8F3D2F04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BE794-3D0D-46E6-9390-BDEABC9AFC0C}" type="datetimeFigureOut">
              <a:rPr lang="en-US" smtClean="0"/>
              <a:t>23-May-26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370964-4B1A-63DB-18AA-570EA9F1C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08ADDB-45A8-7A6E-CD13-9DABE210A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9CDCE-9D9E-464B-9BBD-57C2644EE3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7754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530BE-FC13-B1E1-1471-3ED2B78E9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4F2EAD-C8BE-3429-0420-7C3308A130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73F888-1BCF-8CD0-02B9-B9E71FC6D6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B67819-011C-32F4-8860-E8D55551D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BE794-3D0D-46E6-9390-BDEABC9AFC0C}" type="datetimeFigureOut">
              <a:rPr lang="en-US" smtClean="0"/>
              <a:t>23-May-26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374B6D-F52B-8770-C95D-06F7D084E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0C7687-7AFB-6BC4-4A70-EA901D31F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9CDCE-9D9E-464B-9BBD-57C2644EE3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569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949E1-68C2-88A2-BC62-DB7F1DCDD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01BB4F-73FD-D4AB-7D94-8BDD5C6388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879A52-7E0D-22EF-0B8D-48A68CF78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BE794-3D0D-46E6-9390-BDEABC9AFC0C}" type="datetimeFigureOut">
              <a:rPr lang="en-US" smtClean="0"/>
              <a:t>23-May-26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3551C-6229-94AC-8C25-8ECF30A30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104FE5-EF85-69D4-C34A-AC61F234D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9CDCE-9D9E-464B-9BBD-57C2644EE3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90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1EB9B0-8C10-5B30-45B5-31CBEFB686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EB9CAC-C811-BE4A-8CF1-B2D79E94A1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1461B-7935-F27F-FC39-F6B2B4AEC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BE794-3D0D-46E6-9390-BDEABC9AFC0C}" type="datetimeFigureOut">
              <a:rPr lang="en-US" smtClean="0"/>
              <a:t>23-May-26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55038-C72C-AC9B-B034-C99EF0525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7461-450B-6D48-2113-309339DEB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9CDCE-9D9E-464B-9BBD-57C2644EE3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174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(ABBA Confident Blue)">
    <p:bg>
      <p:bgPr>
        <a:solidFill>
          <a:srgbClr val="0B5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B57CF7-57C6-0A40-B1F2-2B6C75EAF4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14550"/>
                </a:schemeClr>
              </a:gs>
              <a:gs pos="100000">
                <a:schemeClr val="bg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29C2A4-908C-CC4D-886F-D63CEFE6C9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81300" y="2619351"/>
            <a:ext cx="6629400" cy="2387600"/>
          </a:xfrm>
        </p:spPr>
        <p:txBody>
          <a:bodyPr anchor="ctr">
            <a:normAutofit/>
          </a:bodyPr>
          <a:lstStyle>
            <a:lvl1pPr algn="ctr">
              <a:defRPr sz="4800" cap="all" baseline="0">
                <a:ln w="22225">
                  <a:solidFill>
                    <a:schemeClr val="tx1"/>
                  </a:solidFill>
                </a:ln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EFAB31-5DD6-FF49-8ADF-E3D5407890D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5264622"/>
            <a:ext cx="9144000" cy="8704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cap="all" spc="3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pic>
        <p:nvPicPr>
          <p:cNvPr id="8" name="Picture 7" descr="Shape, rectangle&#10;&#10;Description automatically generated">
            <a:extLst>
              <a:ext uri="{FF2B5EF4-FFF2-40B4-BE49-F238E27FC236}">
                <a16:creationId xmlns:a16="http://schemas.microsoft.com/office/drawing/2014/main" id="{A27A5A19-5A06-0542-ACEE-E9C0FD0BF1A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93068" y="858819"/>
            <a:ext cx="1605864" cy="399469"/>
          </a:xfrm>
          <a:prstGeom prst="rect">
            <a:avLst/>
          </a:prstGeom>
        </p:spPr>
      </p:pic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27C31EAC-3710-F943-BE5E-2D615FF5BC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24000" y="6230124"/>
            <a:ext cx="9144000" cy="275781"/>
          </a:xfrm>
        </p:spPr>
        <p:txBody>
          <a:bodyPr anchor="ctr">
            <a:spAutoFit/>
          </a:bodyPr>
          <a:lstStyle>
            <a:lvl1pPr marL="0" indent="0" algn="ctr">
              <a:buNone/>
              <a:defRPr sz="900" spc="1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C6B38141-EC7F-BEE3-92F4-3D7770E588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38470" y="291519"/>
            <a:ext cx="9144000" cy="275781"/>
          </a:xfrm>
        </p:spPr>
        <p:txBody>
          <a:bodyPr anchor="ctr">
            <a:spAutoFit/>
          </a:bodyPr>
          <a:lstStyle>
            <a:lvl1pPr marL="0" indent="0" algn="ctr">
              <a:buNone/>
              <a:defRPr sz="1100" spc="1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FOR PURPOSES OF FORAGE VIRTUAL WORK EXPERIENCE PROGRAM</a:t>
            </a:r>
          </a:p>
        </p:txBody>
      </p:sp>
    </p:spTree>
    <p:extLst>
      <p:ext uri="{BB962C8B-B14F-4D97-AF65-F5344CB8AC3E}">
        <p14:creationId xmlns:p14="http://schemas.microsoft.com/office/powerpoint/2010/main" val="28643235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B0E61-84B1-4AFC-B45F-6282A9D90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E29384-1523-4337-B839-96FA617ED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D1D9E-D27F-4554-BE6E-550908FE1FBE}" type="datetime1">
              <a:rPr lang="en-GB" smtClean="0"/>
              <a:pPr/>
              <a:t>23/05/2026</a:t>
            </a:fld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B9385B3-85E9-4023-BC4A-ADA40024170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47675" y="1676401"/>
            <a:ext cx="10749412" cy="44291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/>
            </a:lvl1pPr>
            <a:lvl2pPr marL="7938" indent="0">
              <a:buNone/>
              <a:tabLst/>
              <a:defRPr sz="1400"/>
            </a:lvl2pPr>
            <a:lvl3pPr marL="447675" indent="-188913">
              <a:tabLst/>
              <a:defRPr sz="1200"/>
            </a:lvl3pPr>
            <a:lvl4pPr marL="715963" indent="-233363">
              <a:tabLst/>
              <a:defRPr sz="1100"/>
            </a:lvl4pPr>
            <a:lvl5pPr marL="984250" indent="-233363">
              <a:tabLst/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80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6EFB4C-838F-9E61-39F0-EA8A3A9C0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8676F-D964-7AD9-A8BD-770B6436B4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4147B-F552-711A-C280-68C451F4C7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EBE794-3D0D-46E6-9390-BDEABC9AFC0C}" type="datetimeFigureOut">
              <a:rPr lang="en-US" smtClean="0"/>
              <a:t>23-May-26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6B6465-49C6-0CC1-90CA-C51E075976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5FFE1-5E7E-679D-1ED1-AC881F0D31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19CDCE-9D9E-464B-9BBD-57C2644EE3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655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theforage.com/virtual-internships/NjynCWzGSaWXQCxSX" TargetMode="Externa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28FAAD5-BEA6-D647-CD8F-9337612F18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6073" y="4128655"/>
            <a:ext cx="9531927" cy="1056485"/>
          </a:xfrm>
        </p:spPr>
        <p:txBody>
          <a:bodyPr>
            <a:normAutofit/>
          </a:bodyPr>
          <a:lstStyle/>
          <a:p>
            <a:r>
              <a:rPr lang="en-US" b="1" dirty="0"/>
              <a:t>Predicting customer buying behavior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DAAE56-6498-6C34-D5D9-05A0333BD3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24000" y="6210311"/>
            <a:ext cx="9144000" cy="315407"/>
          </a:xfrm>
        </p:spPr>
        <p:txBody>
          <a:bodyPr/>
          <a:lstStyle/>
          <a:p>
            <a:r>
              <a:rPr lang="en-GB" sz="1600" dirty="0"/>
              <a:t>21/05/2025</a:t>
            </a:r>
          </a:p>
        </p:txBody>
      </p:sp>
      <p:pic>
        <p:nvPicPr>
          <p:cNvPr id="1026" name="Picture 2" descr="British Airways logo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7994" y="2482910"/>
            <a:ext cx="6797309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638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C9EE2-AB7B-7C0C-1FC8-20E35CF4B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672" y="323488"/>
            <a:ext cx="10587564" cy="442867"/>
          </a:xfrm>
        </p:spPr>
        <p:txBody>
          <a:bodyPr/>
          <a:lstStyle/>
          <a:p>
            <a:r>
              <a:rPr lang="en-US" sz="2000" b="1" dirty="0">
                <a:solidFill>
                  <a:schemeClr val="accent4">
                    <a:lumMod val="50000"/>
                  </a:schemeClr>
                </a:solidFill>
                <a:latin typeface="Aptos Display" panose="020B0004020202020204" pitchFamily="34" charset="0"/>
              </a:rPr>
              <a:t>Predicting Customer Bookings - British Airways</a:t>
            </a:r>
            <a:endParaRPr lang="en-GB" sz="2000" b="1" dirty="0">
              <a:solidFill>
                <a:schemeClr val="accent4">
                  <a:lumMod val="50000"/>
                </a:schemeClr>
              </a:solidFill>
              <a:latin typeface="Aptos Display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2B97B-A940-5016-BA5F-A9A5A4B44DC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43672" y="894735"/>
            <a:ext cx="11533696" cy="5535561"/>
          </a:xfrm>
        </p:spPr>
        <p:txBody>
          <a:bodyPr>
            <a:normAutofit/>
          </a:bodyPr>
          <a:lstStyle/>
          <a:p>
            <a:r>
              <a:rPr lang="en-US" sz="1300" b="0" dirty="0">
                <a:solidFill>
                  <a:schemeClr val="accent6">
                    <a:lumMod val="50000"/>
                  </a:schemeClr>
                </a:solidFill>
              </a:rPr>
              <a:t>We have trained the data set with Random Forest Classifier (n_estimators=200),Max depth: 15,Class weight: balanced,80/20 train/test split</a:t>
            </a:r>
          </a:p>
          <a:p>
            <a:r>
              <a:rPr lang="en-US" sz="1700" dirty="0"/>
              <a:t>Accuracy= 78.55 %</a:t>
            </a:r>
          </a:p>
          <a:p>
            <a:r>
              <a:rPr lang="en-US" sz="1700" dirty="0"/>
              <a:t>ROC-AUC= 77.23 %</a:t>
            </a:r>
            <a:endParaRPr lang="en-US" sz="1800" b="0" dirty="0"/>
          </a:p>
          <a:p>
            <a:r>
              <a:rPr lang="en-US" sz="1800" b="0" dirty="0"/>
              <a:t>Key Findings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0" dirty="0">
                <a:latin typeface="Aptos Display" panose="020B0004020202020204" pitchFamily="34" charset="0"/>
              </a:rPr>
              <a:t>Behavioral features dominate : route frequency is the strongest predictor which</a:t>
            </a:r>
          </a:p>
          <a:p>
            <a:r>
              <a:rPr lang="en-US" sz="1050" b="0" dirty="0">
                <a:latin typeface="Aptos Display" panose="020B0004020202020204" pitchFamily="34" charset="0"/>
              </a:rPr>
              <a:t> tells busier route have more committed Bookers,  purchase lead being the 2</a:t>
            </a:r>
            <a:r>
              <a:rPr lang="en-US" sz="1050" b="0" baseline="30000" dirty="0">
                <a:latin typeface="Aptos Display" panose="020B0004020202020204" pitchFamily="34" charset="0"/>
              </a:rPr>
              <a:t>nd</a:t>
            </a:r>
            <a:r>
              <a:rPr lang="en-US" sz="1050" b="0" dirty="0">
                <a:latin typeface="Aptos Display" panose="020B0004020202020204" pitchFamily="34" charset="0"/>
              </a:rPr>
              <a:t> highest</a:t>
            </a:r>
          </a:p>
          <a:p>
            <a:r>
              <a:rPr lang="en-US" sz="1050" b="0" dirty="0">
                <a:latin typeface="Aptos Display" panose="020B0004020202020204" pitchFamily="34" charset="0"/>
              </a:rPr>
              <a:t> indicator telling us the people who book earlier are more likely to complete their booking,</a:t>
            </a:r>
          </a:p>
          <a:p>
            <a:r>
              <a:rPr lang="en-US" sz="1050" b="0" dirty="0">
                <a:latin typeface="Aptos Display" panose="020B0004020202020204" pitchFamily="34" charset="0"/>
              </a:rPr>
              <a:t> Length of stay also says about customer planning behavior.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0" dirty="0">
                <a:latin typeface="Aptos Display" panose="020B0004020202020204" pitchFamily="34" charset="0"/>
              </a:rPr>
              <a:t>Southeast Asia and Oceania are strong predictors, while Middle East, </a:t>
            </a:r>
          </a:p>
          <a:p>
            <a:r>
              <a:rPr lang="en-US" sz="1050" b="0" dirty="0">
                <a:latin typeface="Aptos Display" panose="020B0004020202020204" pitchFamily="34" charset="0"/>
              </a:rPr>
              <a:t>South America and Central Asia have near-zero importance.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0" dirty="0">
                <a:latin typeface="Aptos Display" panose="020B0004020202020204" pitchFamily="34" charset="0"/>
              </a:rPr>
              <a:t>Model achieves 77.23% ROC-AUC,  genuinely our model is useful model.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0" dirty="0">
                <a:latin typeface="Aptos Display" panose="020B0004020202020204" pitchFamily="34" charset="0"/>
              </a:rPr>
              <a:t>Moderate recall (52%) means we catch most real bookers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0" dirty="0">
                <a:latin typeface="Aptos Display" panose="020B0004020202020204" pitchFamily="34" charset="0"/>
              </a:rPr>
              <a:t>wants_extra_baggage, wants_in_flight_meals, wants_preferred_seat have low importance,</a:t>
            </a:r>
          </a:p>
          <a:p>
            <a:r>
              <a:rPr lang="en-US" sz="1050" b="0" dirty="0">
                <a:latin typeface="Aptos Display" panose="020B0004020202020204" pitchFamily="34" charset="0"/>
              </a:rPr>
              <a:t> suggesting they don't reliably predict whether someone completes a booking</a:t>
            </a:r>
            <a:endParaRPr lang="en-US" sz="1050" b="0" dirty="0">
              <a:solidFill>
                <a:schemeClr val="accent6">
                  <a:lumMod val="50000"/>
                </a:schemeClr>
              </a:solidFill>
              <a:latin typeface="Aptos Display" panose="020B0004020202020204" pitchFamily="34" charset="0"/>
            </a:endParaRPr>
          </a:p>
          <a:p>
            <a:endParaRPr lang="en-GB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76FF99-E7D4-D4F2-176A-5CB0702A3E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5104" y="2133600"/>
            <a:ext cx="6836896" cy="4001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1963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186</Words>
  <Application>Microsoft Office PowerPoint</Application>
  <PresentationFormat>Widescreen</PresentationFormat>
  <Paragraphs>17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Predicting Customer Bookings - British Airways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gayatri Londhe</dc:creator>
  <cp:lastModifiedBy>gayatri Londhe</cp:lastModifiedBy>
  <cp:revision>2</cp:revision>
  <dcterms:created xsi:type="dcterms:W3CDTF">2026-05-21T00:57:20Z</dcterms:created>
  <dcterms:modified xsi:type="dcterms:W3CDTF">2026-05-23T23:20:00Z</dcterms:modified>
</cp:coreProperties>
</file>